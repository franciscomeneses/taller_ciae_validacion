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AFDBA-3C19-4594-A53A-3C1A7B156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5D1B0C-D1C3-454C-8ADD-2C2442A42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440B2F-01E9-4B66-9495-8C0AE750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4C7A12-5B27-4DAE-8AC4-DCB1B02E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E80B04-6BB6-4156-83CF-4A0ED4CB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171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FE5C2-6F80-486F-8D3E-61088DFA9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E96AD0-0888-4C85-B0C9-C1E04EA07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69295-9D27-4D69-919F-A344C4F9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682717-2E50-4F96-999F-ED25CB6D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74A052-66D6-483A-8304-6FB34E03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951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51C82-DD6B-40A2-846E-25F994099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3B0B37-DA4E-47F9-A288-8A3BD5840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D33BC8-2AF6-445B-81B0-6B957CF9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EF496C-9863-4002-B5CF-008D1E90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8EEC92-324C-48BF-B070-EFA37147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495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9A664-2E69-4CEB-B6D7-BA48F75E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3D5FB8-EE2D-474C-A949-5B19E3D34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BF9DE8-2B27-4D1E-98F3-FC0D5F31C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78A96-C3DF-4868-A520-2971BD6BE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D9BA4F-BE01-4192-B5D7-070AD8B86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D33AAB-7578-4994-A5E5-39CBB1E0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912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4725F-1CA9-437C-9C8A-EBBDF23CE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B2BB6-B6F7-428F-A1DF-6F0A2E8B5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62DCBC-835C-4E3D-9216-163E46B2C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266EAE-7408-4C93-B193-333A1CA3C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67AD17-5624-4B65-A2E5-77EC43AD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CE5B5FC-E50E-4A5C-B960-FCC43F03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22BEA2A-31AE-419F-B37A-55DC0CA14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12D4426-012E-4237-A628-D28C53C4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922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303C8-7118-4B50-B9C8-25F65006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CFF2D9-E4A4-46A8-AB2E-79E41826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BC00D0-BA3C-41FE-B78A-75DFC2D0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F01480-CF07-40B4-A938-608E18DC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903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FCA4F4D-FA4A-41A8-98C6-74EF2D217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7242CB-978E-4873-87D1-3D3AC69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D98A7A-881C-4509-8705-43523CBE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438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FAC55-B3CB-466D-A6F7-9BB55AF7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BA1437-A6EA-4885-8A7B-F33035441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2F825B-0C4E-433C-9560-0BD103D0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31FE15-6FB7-47CA-984B-DBFF00BC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5D14F9-ECEB-4CFD-8A3A-B64E3C2D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96DDD8-36F2-46CF-B56E-08B7E581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881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00A5C-29E8-4194-A48A-99A1AE742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1F13B4-E63B-40FC-BCB7-442699C12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C31D3F-A71B-4B7A-B66F-134CBD27D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D9697E-6C59-4B08-BFA3-3B89F288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E57632-1AAC-4550-A62A-8ED2BE5D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345705-555B-430C-800F-BD1640E1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559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24D1D-6B30-4194-B320-266B683B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A4F010-1AB1-45A6-AB29-B3E27B355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13DB97-7E88-489D-9FE4-E82DF626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6573DD-BAAA-445A-9D1B-B7EFA1BB3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9FE88-367B-4FD1-826A-5A48BD63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663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103EA6-D8DF-4E16-8B6F-0636597C0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0F2BB3-4672-4F4E-B424-8C47CDBC9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E7099A-F353-4B71-9E27-F82E41F2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9BE719-FFA7-4C9C-9A48-23D51D8C5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E270E-2BA5-43E1-A70A-2C7BD0791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580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8BB045-C397-4F10-ACD6-44B7F115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A449F1-37EE-4C4E-AA5C-C6DFE9EF0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33AF85-21F7-47B3-A12F-530CF67BD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A160B-FA86-487A-8482-00E8299F5122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0E083A-1E5B-4704-BBA4-DF1A87376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FED139-5A1F-4E72-B886-BB2E00F7F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B0FBC-6B1E-41E3-B145-E21802870B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237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DBB9F78-AE6C-41BC-8E3C-D50BDC46B90E}"/>
              </a:ext>
            </a:extLst>
          </p:cNvPr>
          <p:cNvSpPr/>
          <p:nvPr/>
        </p:nvSpPr>
        <p:spPr>
          <a:xfrm>
            <a:off x="5983945" y="403411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“No me gustaría que mi hija no se case con una persona latina”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2A7796-19C8-4834-A8A5-9F83296467F7}"/>
              </a:ext>
            </a:extLst>
          </p:cNvPr>
          <p:cNvSpPr/>
          <p:nvPr/>
        </p:nvSpPr>
        <p:spPr>
          <a:xfrm>
            <a:off x="5930156" y="1714499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“Preferiría que no lleguen tantos latinos a mi barrio”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ADC953-F2D3-43D0-AAC3-B7E694280545}"/>
              </a:ext>
            </a:extLst>
          </p:cNvPr>
          <p:cNvSpPr/>
          <p:nvPr/>
        </p:nvSpPr>
        <p:spPr>
          <a:xfrm>
            <a:off x="5930156" y="3065927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“En general los latinos tienen menores capacidades cognitivas”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5C049C-33A1-45AB-B92E-AFBC3C756965}"/>
              </a:ext>
            </a:extLst>
          </p:cNvPr>
          <p:cNvSpPr/>
          <p:nvPr/>
        </p:nvSpPr>
        <p:spPr>
          <a:xfrm>
            <a:off x="5930156" y="4417355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</a:t>
            </a:r>
            <a:r>
              <a:rPr lang="es-ES" dirty="0">
                <a:solidFill>
                  <a:schemeClr val="tx1"/>
                </a:solidFill>
              </a:rPr>
              <a:t>La inmigración latina amenaza nuestra cultura.</a:t>
            </a:r>
            <a:r>
              <a:rPr lang="es-CL" dirty="0">
                <a:solidFill>
                  <a:schemeClr val="tx1"/>
                </a:solidFill>
              </a:rPr>
              <a:t>”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01B74CB-6583-4851-A5C7-A645D914B0EA}"/>
              </a:ext>
            </a:extLst>
          </p:cNvPr>
          <p:cNvCxnSpPr/>
          <p:nvPr/>
        </p:nvCxnSpPr>
        <p:spPr>
          <a:xfrm>
            <a:off x="5432612" y="0"/>
            <a:ext cx="0" cy="69655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B432A93-1078-48E9-91A5-10D9099F3A20}"/>
              </a:ext>
            </a:extLst>
          </p:cNvPr>
          <p:cNvSpPr/>
          <p:nvPr/>
        </p:nvSpPr>
        <p:spPr>
          <a:xfrm>
            <a:off x="5930156" y="5768783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</a:t>
            </a:r>
            <a:r>
              <a:rPr lang="es-ES" dirty="0">
                <a:solidFill>
                  <a:schemeClr val="tx1"/>
                </a:solidFill>
              </a:rPr>
              <a:t>Los latinos son más propensos a cometer delitos</a:t>
            </a:r>
            <a:r>
              <a:rPr lang="es-CL" dirty="0">
                <a:solidFill>
                  <a:schemeClr val="tx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721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DBB9F78-AE6C-41BC-8E3C-D50BDC46B90E}"/>
              </a:ext>
            </a:extLst>
          </p:cNvPr>
          <p:cNvSpPr/>
          <p:nvPr/>
        </p:nvSpPr>
        <p:spPr>
          <a:xfrm>
            <a:off x="5661217" y="403411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“No me gustaría que mi hija no se case con una persona latina”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2A7796-19C8-4834-A8A5-9F83296467F7}"/>
              </a:ext>
            </a:extLst>
          </p:cNvPr>
          <p:cNvSpPr/>
          <p:nvPr/>
        </p:nvSpPr>
        <p:spPr>
          <a:xfrm>
            <a:off x="5607428" y="1714499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“Preferiría que no lleguen tantos latinos a mi barrio”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ADC953-F2D3-43D0-AAC3-B7E694280545}"/>
              </a:ext>
            </a:extLst>
          </p:cNvPr>
          <p:cNvSpPr/>
          <p:nvPr/>
        </p:nvSpPr>
        <p:spPr>
          <a:xfrm>
            <a:off x="5607428" y="3065927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“En general los latinos tienen menores capacidades cognitivas”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5C049C-33A1-45AB-B92E-AFBC3C756965}"/>
              </a:ext>
            </a:extLst>
          </p:cNvPr>
          <p:cNvSpPr/>
          <p:nvPr/>
        </p:nvSpPr>
        <p:spPr>
          <a:xfrm>
            <a:off x="5607428" y="4417355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</a:t>
            </a:r>
            <a:r>
              <a:rPr lang="es-ES" dirty="0">
                <a:solidFill>
                  <a:schemeClr val="tx1"/>
                </a:solidFill>
              </a:rPr>
              <a:t>La inmigración latina amenaza nuestra cultura.</a:t>
            </a:r>
            <a:r>
              <a:rPr lang="es-CL" dirty="0">
                <a:solidFill>
                  <a:schemeClr val="tx1"/>
                </a:solidFill>
              </a:rPr>
              <a:t>”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01B74CB-6583-4851-A5C7-A645D914B0EA}"/>
              </a:ext>
            </a:extLst>
          </p:cNvPr>
          <p:cNvCxnSpPr/>
          <p:nvPr/>
        </p:nvCxnSpPr>
        <p:spPr>
          <a:xfrm>
            <a:off x="5432612" y="0"/>
            <a:ext cx="0" cy="69655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B432A93-1078-48E9-91A5-10D9099F3A20}"/>
              </a:ext>
            </a:extLst>
          </p:cNvPr>
          <p:cNvSpPr/>
          <p:nvPr/>
        </p:nvSpPr>
        <p:spPr>
          <a:xfrm>
            <a:off x="5607428" y="5768783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</a:t>
            </a:r>
            <a:r>
              <a:rPr lang="es-ES" dirty="0">
                <a:solidFill>
                  <a:schemeClr val="tx1"/>
                </a:solidFill>
              </a:rPr>
              <a:t>Los latinos son más propensos a cometer delitos</a:t>
            </a:r>
            <a:r>
              <a:rPr lang="es-CL" dirty="0">
                <a:solidFill>
                  <a:schemeClr val="tx1"/>
                </a:solidFill>
              </a:rPr>
              <a:t>”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ED72B59-9C00-4AEB-A2FA-AC60374AF677}"/>
              </a:ext>
            </a:extLst>
          </p:cNvPr>
          <p:cNvCxnSpPr>
            <a:cxnSpLocks/>
            <a:stCxn id="13" idx="6"/>
            <a:endCxn id="5" idx="1"/>
          </p:cNvCxnSpPr>
          <p:nvPr/>
        </p:nvCxnSpPr>
        <p:spPr>
          <a:xfrm flipV="1">
            <a:off x="3294534" y="860611"/>
            <a:ext cx="2366683" cy="26826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3F5ABF8-FF18-41CC-9DE9-BF22BC4DDFD0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3294534" y="2171699"/>
            <a:ext cx="2312894" cy="1371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22933E1A-B650-4124-89DE-76BE8CD033A4}"/>
              </a:ext>
            </a:extLst>
          </p:cNvPr>
          <p:cNvSpPr/>
          <p:nvPr/>
        </p:nvSpPr>
        <p:spPr>
          <a:xfrm>
            <a:off x="201710" y="2487702"/>
            <a:ext cx="3092824" cy="211118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Nivel de Racismo hacia los grupos latinos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41B35FB-CC74-4A7E-A0F3-870A8C49399C}"/>
              </a:ext>
            </a:extLst>
          </p:cNvPr>
          <p:cNvCxnSpPr>
            <a:cxnSpLocks/>
            <a:stCxn id="13" idx="6"/>
            <a:endCxn id="7" idx="1"/>
          </p:cNvCxnSpPr>
          <p:nvPr/>
        </p:nvCxnSpPr>
        <p:spPr>
          <a:xfrm flipV="1">
            <a:off x="3294534" y="3523127"/>
            <a:ext cx="2312894" cy="201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E6D7C64-9063-4A57-B32C-104C3326EDFB}"/>
              </a:ext>
            </a:extLst>
          </p:cNvPr>
          <p:cNvCxnSpPr>
            <a:cxnSpLocks/>
            <a:stCxn id="13" idx="6"/>
            <a:endCxn id="8" idx="1"/>
          </p:cNvCxnSpPr>
          <p:nvPr/>
        </p:nvCxnSpPr>
        <p:spPr>
          <a:xfrm>
            <a:off x="3294534" y="3543297"/>
            <a:ext cx="2312894" cy="13312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C7A4ED9-68CA-4DF8-88DC-3E83732AC584}"/>
              </a:ext>
            </a:extLst>
          </p:cNvPr>
          <p:cNvCxnSpPr>
            <a:cxnSpLocks/>
            <a:stCxn id="13" idx="6"/>
            <a:endCxn id="11" idx="1"/>
          </p:cNvCxnSpPr>
          <p:nvPr/>
        </p:nvCxnSpPr>
        <p:spPr>
          <a:xfrm>
            <a:off x="3294534" y="3543297"/>
            <a:ext cx="2312894" cy="26826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716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DBB9F78-AE6C-41BC-8E3C-D50BDC46B90E}"/>
              </a:ext>
            </a:extLst>
          </p:cNvPr>
          <p:cNvSpPr/>
          <p:nvPr/>
        </p:nvSpPr>
        <p:spPr>
          <a:xfrm>
            <a:off x="5661217" y="403411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“No me gustaría que mi hija no se case con una persona latina”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2A7796-19C8-4834-A8A5-9F83296467F7}"/>
              </a:ext>
            </a:extLst>
          </p:cNvPr>
          <p:cNvSpPr/>
          <p:nvPr/>
        </p:nvSpPr>
        <p:spPr>
          <a:xfrm>
            <a:off x="5607428" y="1714499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“Preferiría que no lleguen tantos latinos a mi barrio”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ADC953-F2D3-43D0-AAC3-B7E694280545}"/>
              </a:ext>
            </a:extLst>
          </p:cNvPr>
          <p:cNvSpPr/>
          <p:nvPr/>
        </p:nvSpPr>
        <p:spPr>
          <a:xfrm>
            <a:off x="5607428" y="3065927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“En general los latinos tienen menores capacidades cognitivas”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5C049C-33A1-45AB-B92E-AFBC3C756965}"/>
              </a:ext>
            </a:extLst>
          </p:cNvPr>
          <p:cNvSpPr/>
          <p:nvPr/>
        </p:nvSpPr>
        <p:spPr>
          <a:xfrm>
            <a:off x="5607428" y="4417355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</a:t>
            </a:r>
            <a:r>
              <a:rPr lang="es-ES" dirty="0">
                <a:solidFill>
                  <a:schemeClr val="tx1"/>
                </a:solidFill>
              </a:rPr>
              <a:t>La inmigración latina amenaza nuestra cultura.</a:t>
            </a:r>
            <a:r>
              <a:rPr lang="es-CL" dirty="0">
                <a:solidFill>
                  <a:schemeClr val="tx1"/>
                </a:solidFill>
              </a:rPr>
              <a:t>”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01B74CB-6583-4851-A5C7-A645D914B0EA}"/>
              </a:ext>
            </a:extLst>
          </p:cNvPr>
          <p:cNvCxnSpPr/>
          <p:nvPr/>
        </p:nvCxnSpPr>
        <p:spPr>
          <a:xfrm>
            <a:off x="5432612" y="0"/>
            <a:ext cx="0" cy="69655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B432A93-1078-48E9-91A5-10D9099F3A20}"/>
              </a:ext>
            </a:extLst>
          </p:cNvPr>
          <p:cNvSpPr/>
          <p:nvPr/>
        </p:nvSpPr>
        <p:spPr>
          <a:xfrm>
            <a:off x="5607428" y="5768783"/>
            <a:ext cx="3993776" cy="914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“</a:t>
            </a:r>
            <a:r>
              <a:rPr lang="es-ES" dirty="0">
                <a:solidFill>
                  <a:schemeClr val="tx1"/>
                </a:solidFill>
              </a:rPr>
              <a:t>Los latinos son más propensos a cometer delitos</a:t>
            </a:r>
            <a:r>
              <a:rPr lang="es-CL" dirty="0">
                <a:solidFill>
                  <a:schemeClr val="tx1"/>
                </a:solidFill>
              </a:rPr>
              <a:t>”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ED72B59-9C00-4AEB-A2FA-AC60374AF677}"/>
              </a:ext>
            </a:extLst>
          </p:cNvPr>
          <p:cNvCxnSpPr>
            <a:cxnSpLocks/>
            <a:stCxn id="13" idx="6"/>
            <a:endCxn id="5" idx="1"/>
          </p:cNvCxnSpPr>
          <p:nvPr/>
        </p:nvCxnSpPr>
        <p:spPr>
          <a:xfrm flipV="1">
            <a:off x="3294534" y="860611"/>
            <a:ext cx="2366683" cy="26826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3F5ABF8-FF18-41CC-9DE9-BF22BC4DDFD0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3294534" y="2171699"/>
            <a:ext cx="2312894" cy="1371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22933E1A-B650-4124-89DE-76BE8CD033A4}"/>
              </a:ext>
            </a:extLst>
          </p:cNvPr>
          <p:cNvSpPr/>
          <p:nvPr/>
        </p:nvSpPr>
        <p:spPr>
          <a:xfrm>
            <a:off x="201710" y="2487702"/>
            <a:ext cx="3092824" cy="211118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Nivel de Racismo hacia los grupos latinos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41B35FB-CC74-4A7E-A0F3-870A8C49399C}"/>
              </a:ext>
            </a:extLst>
          </p:cNvPr>
          <p:cNvCxnSpPr>
            <a:cxnSpLocks/>
            <a:stCxn id="13" idx="6"/>
            <a:endCxn id="7" idx="1"/>
          </p:cNvCxnSpPr>
          <p:nvPr/>
        </p:nvCxnSpPr>
        <p:spPr>
          <a:xfrm flipV="1">
            <a:off x="3294534" y="3523127"/>
            <a:ext cx="2312894" cy="201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E6D7C64-9063-4A57-B32C-104C3326EDFB}"/>
              </a:ext>
            </a:extLst>
          </p:cNvPr>
          <p:cNvCxnSpPr>
            <a:cxnSpLocks/>
            <a:stCxn id="13" idx="6"/>
            <a:endCxn id="8" idx="1"/>
          </p:cNvCxnSpPr>
          <p:nvPr/>
        </p:nvCxnSpPr>
        <p:spPr>
          <a:xfrm>
            <a:off x="3294534" y="3543297"/>
            <a:ext cx="2312894" cy="13312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C7A4ED9-68CA-4DF8-88DC-3E83732AC584}"/>
              </a:ext>
            </a:extLst>
          </p:cNvPr>
          <p:cNvCxnSpPr>
            <a:cxnSpLocks/>
            <a:stCxn id="13" idx="6"/>
            <a:endCxn id="11" idx="1"/>
          </p:cNvCxnSpPr>
          <p:nvPr/>
        </p:nvCxnSpPr>
        <p:spPr>
          <a:xfrm>
            <a:off x="3294534" y="3543297"/>
            <a:ext cx="2312894" cy="26826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47513520-42BF-40DE-9336-A82C76ECB74F}"/>
              </a:ext>
            </a:extLst>
          </p:cNvPr>
          <p:cNvCxnSpPr>
            <a:cxnSpLocks/>
          </p:cNvCxnSpPr>
          <p:nvPr/>
        </p:nvCxnSpPr>
        <p:spPr>
          <a:xfrm flipH="1">
            <a:off x="9641544" y="532839"/>
            <a:ext cx="53789" cy="1311088"/>
          </a:xfrm>
          <a:prstGeom prst="curvedConnector3">
            <a:avLst>
              <a:gd name="adj1" fmla="val -1699976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curvado 14">
            <a:extLst>
              <a:ext uri="{FF2B5EF4-FFF2-40B4-BE49-F238E27FC236}">
                <a16:creationId xmlns:a16="http://schemas.microsoft.com/office/drawing/2014/main" id="{7096F8AA-2808-4BF1-89A0-586E545E3091}"/>
              </a:ext>
            </a:extLst>
          </p:cNvPr>
          <p:cNvCxnSpPr/>
          <p:nvPr/>
        </p:nvCxnSpPr>
        <p:spPr>
          <a:xfrm flipH="1">
            <a:off x="9574309" y="2168327"/>
            <a:ext cx="53789" cy="1311088"/>
          </a:xfrm>
          <a:prstGeom prst="curvedConnector3">
            <a:avLst>
              <a:gd name="adj1" fmla="val -1699976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curvado 15">
            <a:extLst>
              <a:ext uri="{FF2B5EF4-FFF2-40B4-BE49-F238E27FC236}">
                <a16:creationId xmlns:a16="http://schemas.microsoft.com/office/drawing/2014/main" id="{50797D41-546C-4A4F-A21B-4F82AB99AA31}"/>
              </a:ext>
            </a:extLst>
          </p:cNvPr>
          <p:cNvCxnSpPr>
            <a:cxnSpLocks/>
          </p:cNvCxnSpPr>
          <p:nvPr/>
        </p:nvCxnSpPr>
        <p:spPr>
          <a:xfrm flipH="1">
            <a:off x="9641544" y="3733230"/>
            <a:ext cx="53789" cy="1311088"/>
          </a:xfrm>
          <a:prstGeom prst="curvedConnector3">
            <a:avLst>
              <a:gd name="adj1" fmla="val -1699976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curvado 17">
            <a:extLst>
              <a:ext uri="{FF2B5EF4-FFF2-40B4-BE49-F238E27FC236}">
                <a16:creationId xmlns:a16="http://schemas.microsoft.com/office/drawing/2014/main" id="{63969702-B013-46E7-88E0-9F51765E9D17}"/>
              </a:ext>
            </a:extLst>
          </p:cNvPr>
          <p:cNvCxnSpPr/>
          <p:nvPr/>
        </p:nvCxnSpPr>
        <p:spPr>
          <a:xfrm flipH="1">
            <a:off x="9587755" y="5298134"/>
            <a:ext cx="53789" cy="1311088"/>
          </a:xfrm>
          <a:prstGeom prst="curvedConnector3">
            <a:avLst>
              <a:gd name="adj1" fmla="val -1699976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curvado 18">
            <a:extLst>
              <a:ext uri="{FF2B5EF4-FFF2-40B4-BE49-F238E27FC236}">
                <a16:creationId xmlns:a16="http://schemas.microsoft.com/office/drawing/2014/main" id="{131077B1-D5F0-4DF8-8486-1F4E3B18839E}"/>
              </a:ext>
            </a:extLst>
          </p:cNvPr>
          <p:cNvCxnSpPr>
            <a:cxnSpLocks/>
            <a:stCxn id="5" idx="3"/>
            <a:endCxn id="11" idx="3"/>
          </p:cNvCxnSpPr>
          <p:nvPr/>
        </p:nvCxnSpPr>
        <p:spPr>
          <a:xfrm flipH="1">
            <a:off x="9601204" y="860611"/>
            <a:ext cx="53789" cy="5365372"/>
          </a:xfrm>
          <a:prstGeom prst="curvedConnector3">
            <a:avLst>
              <a:gd name="adj1" fmla="val -3324953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285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053A5CDC-7227-4E9A-8835-3FC8BB70EDE8}"/>
              </a:ext>
            </a:extLst>
          </p:cNvPr>
          <p:cNvSpPr/>
          <p:nvPr/>
        </p:nvSpPr>
        <p:spPr>
          <a:xfrm>
            <a:off x="16933" y="1121088"/>
            <a:ext cx="2245157" cy="156782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Variable latente 1 (L1)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83967E-1621-4B56-9B9D-032E6AEF6870}"/>
              </a:ext>
            </a:extLst>
          </p:cNvPr>
          <p:cNvSpPr/>
          <p:nvPr/>
        </p:nvSpPr>
        <p:spPr>
          <a:xfrm>
            <a:off x="3073400" y="633507"/>
            <a:ext cx="2370667" cy="5926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Ítem observado 1 (i1)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5443F8D-487E-4844-A5D5-0CD1C054DFE9}"/>
              </a:ext>
            </a:extLst>
          </p:cNvPr>
          <p:cNvSpPr/>
          <p:nvPr/>
        </p:nvSpPr>
        <p:spPr>
          <a:xfrm>
            <a:off x="3056465" y="1617133"/>
            <a:ext cx="2370667" cy="5926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Ítem observado 2 (i2)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7058A4-0E10-4A7C-9304-331D12399DAB}"/>
              </a:ext>
            </a:extLst>
          </p:cNvPr>
          <p:cNvSpPr/>
          <p:nvPr/>
        </p:nvSpPr>
        <p:spPr>
          <a:xfrm>
            <a:off x="3056464" y="2501155"/>
            <a:ext cx="2370667" cy="5926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Ítem observado 3 (i3)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62A3DC6-6C44-48AC-B3DE-B32B206A09D0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 flipV="1">
            <a:off x="2262090" y="929841"/>
            <a:ext cx="811310" cy="9751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9AA1466-CE8D-41E1-90C7-5C8592282158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>
            <a:off x="2262090" y="1905000"/>
            <a:ext cx="794375" cy="8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138B84CC-C67D-4B58-83D0-9D10443DDAEE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>
            <a:off x="2262090" y="1905000"/>
            <a:ext cx="794374" cy="8924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lipse 21">
            <a:extLst>
              <a:ext uri="{FF2B5EF4-FFF2-40B4-BE49-F238E27FC236}">
                <a16:creationId xmlns:a16="http://schemas.microsoft.com/office/drawing/2014/main" id="{D2C7C1D8-6F85-40F2-92A6-6C39B00D1225}"/>
              </a:ext>
            </a:extLst>
          </p:cNvPr>
          <p:cNvSpPr/>
          <p:nvPr/>
        </p:nvSpPr>
        <p:spPr>
          <a:xfrm>
            <a:off x="0" y="4221382"/>
            <a:ext cx="2245157" cy="156782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Variable latente 2 (L2)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CA1B262-474D-40CC-AA94-49963D163335}"/>
              </a:ext>
            </a:extLst>
          </p:cNvPr>
          <p:cNvSpPr/>
          <p:nvPr/>
        </p:nvSpPr>
        <p:spPr>
          <a:xfrm>
            <a:off x="3056467" y="3733801"/>
            <a:ext cx="2370667" cy="5926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Ítem observado 4 (i4)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F0674AB-174B-4271-BB43-AA7EFB9A33B9}"/>
              </a:ext>
            </a:extLst>
          </p:cNvPr>
          <p:cNvSpPr/>
          <p:nvPr/>
        </p:nvSpPr>
        <p:spPr>
          <a:xfrm>
            <a:off x="3056466" y="4717427"/>
            <a:ext cx="2370667" cy="5926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Ítem observado 5 (i5)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2F3944C-9FD8-48A2-A2A6-798756153AB0}"/>
              </a:ext>
            </a:extLst>
          </p:cNvPr>
          <p:cNvSpPr/>
          <p:nvPr/>
        </p:nvSpPr>
        <p:spPr>
          <a:xfrm>
            <a:off x="3056467" y="5589493"/>
            <a:ext cx="2370667" cy="5926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Ítem observado 6 (i6)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3B55A5A-420C-4FB8-83BE-BBE2A5B106AF}"/>
              </a:ext>
            </a:extLst>
          </p:cNvPr>
          <p:cNvCxnSpPr>
            <a:cxnSpLocks/>
            <a:stCxn id="22" idx="6"/>
            <a:endCxn id="23" idx="1"/>
          </p:cNvCxnSpPr>
          <p:nvPr/>
        </p:nvCxnSpPr>
        <p:spPr>
          <a:xfrm flipV="1">
            <a:off x="2245157" y="4030135"/>
            <a:ext cx="811310" cy="9751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F707BDA-0A78-4642-910E-6057DBDDD6FE}"/>
              </a:ext>
            </a:extLst>
          </p:cNvPr>
          <p:cNvCxnSpPr>
            <a:cxnSpLocks/>
            <a:stCxn id="22" idx="6"/>
            <a:endCxn id="24" idx="1"/>
          </p:cNvCxnSpPr>
          <p:nvPr/>
        </p:nvCxnSpPr>
        <p:spPr>
          <a:xfrm>
            <a:off x="2245157" y="5005294"/>
            <a:ext cx="811309" cy="8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03168FA-B517-4A62-BF61-DEE892F97A6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2245157" y="5005294"/>
            <a:ext cx="811310" cy="8805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126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227</Words>
  <Application>Microsoft Office PowerPoint</Application>
  <PresentationFormat>Panorámica</PresentationFormat>
  <Paragraphs>25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Javier Meneses Rivas (francisco.meneses)</dc:creator>
  <cp:lastModifiedBy>Francisco Javier Meneses Rivas (francisco.meneses)</cp:lastModifiedBy>
  <cp:revision>5</cp:revision>
  <dcterms:created xsi:type="dcterms:W3CDTF">2026-03-08T11:36:09Z</dcterms:created>
  <dcterms:modified xsi:type="dcterms:W3CDTF">2026-03-12T00:53:41Z</dcterms:modified>
</cp:coreProperties>
</file>